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 spc="300">
                <a:solidFill>
                  <a:srgbClr val="868078"/>
                </a:solidFill>
                <a:latin typeface="Consolas"/>
              </a:rPr>
              <a:t>ВЫПУСК · ДИПЛОМНАЯ РАБОТА ·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841248"/>
            <a:ext cx="10911535" cy="0"/>
          </a:xfrm>
          <a:prstGeom prst="line">
            <a:avLst/>
          </a:prstGeom>
          <a:ln w="1905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905256"/>
            <a:ext cx="10911535" cy="0"/>
          </a:xfrm>
          <a:prstGeom prst="line">
            <a:avLst/>
          </a:prstGeom>
          <a:ln w="635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E8A246"/>
                </a:solidFill>
                <a:latin typeface="Consolas"/>
              </a:rPr>
              <a:t>ПРЕЗЕНТАЦИЯ ПРОЕКТА  ·  PROJECT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0" i="0">
                <a:solidFill>
                  <a:srgbClr val="F4EEE3"/>
                </a:solidFill>
                <a:latin typeface="Georgia"/>
              </a:rPr>
              <a:t>Service 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0972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0" i="1">
                <a:solidFill>
                  <a:srgbClr val="E8A246"/>
                </a:solidFill>
                <a:latin typeface="Georgia"/>
              </a:rPr>
              <a:t>для колледжа.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1">
                <a:solidFill>
                  <a:srgbClr val="B8B0A4"/>
                </a:solidFill>
                <a:latin typeface="Georgia"/>
              </a:rPr>
              <a:t>Полнофункциональная веб-платформа управления IT-заявками</a:t>
            </a:r>
          </a:p>
          <a:p>
            <a:pPr algn="l">
              <a:lnSpc>
                <a:spcPct val="135000"/>
              </a:lnSpc>
            </a:pPr>
            <a:r>
              <a:rPr sz="1700" b="0" i="1">
                <a:solidFill>
                  <a:srgbClr val="B8B0A4"/>
                </a:solidFill>
                <a:latin typeface="Georgia"/>
              </a:rPr>
              <a:t>с реал-тайм чатом, SLA-контролем, ролевой моделью и базой знаний.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663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300">
                <a:solidFill>
                  <a:srgbClr val="868078"/>
                </a:solidFill>
                <a:latin typeface="Consolas"/>
              </a:rPr>
              <a:t>СОСТАВ ВЫПУСКА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4956048"/>
            <a:ext cx="2743200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78240" y="512064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00">
                <a:solidFill>
                  <a:srgbClr val="E8A246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51206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F4EEE3"/>
                </a:solidFill>
                <a:latin typeface="Georgia"/>
              </a:rPr>
              <a:t>Архитектура и стек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00">
                <a:solidFill>
                  <a:srgbClr val="E8A246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41324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F4EEE3"/>
                </a:solidFill>
                <a:latin typeface="Georgia"/>
              </a:rPr>
              <a:t>Жизненный цикл и 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57058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00">
                <a:solidFill>
                  <a:srgbClr val="E8A246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70585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F4EEE3"/>
                </a:solidFill>
                <a:latin typeface="Georgia"/>
              </a:rPr>
              <a:t>11 интерфейсов · скриншоты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9984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00">
                <a:solidFill>
                  <a:srgbClr val="E8A246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99846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F4EEE3"/>
                </a:solidFill>
                <a:latin typeface="Georgia"/>
              </a:rPr>
              <a:t>Realtime, метрики, тесты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46520"/>
            <a:ext cx="10911535" cy="0"/>
          </a:xfrm>
          <a:prstGeom prst="line">
            <a:avLst/>
          </a:prstGeom>
          <a:ln w="635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68078"/>
                </a:solidFill>
                <a:latin typeface="Consolas"/>
              </a:rPr>
              <a:t>AITUDESK  ·  СЛУЖБА ПОДДЕРЖКИ КОЛЛЕДЖА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300">
                <a:solidFill>
                  <a:srgbClr val="F4EEE3"/>
                </a:solidFill>
                <a:latin typeface="Consolas"/>
              </a:rPr>
              <a:t>P. 01 / 20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02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01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О ПРОЕКТЕ  ·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4EEE3"/>
                </a:solidFill>
                <a:latin typeface="Georgia"/>
              </a:rPr>
              <a:t>Одна платформа</a:t>
            </a:r>
          </a:p>
          <a:p>
            <a:pPr algn="l">
              <a:lnSpc>
                <a:spcPct val="110000"/>
              </a:lnSpc>
            </a:pPr>
            <a:r>
              <a:rPr sz="4400" b="0" i="1">
                <a:solidFill>
                  <a:srgbClr val="F4EEE3"/>
                </a:solidFill>
                <a:latin typeface="Georgia"/>
              </a:rPr>
              <a:t>для всех IT-заявок </a:t>
            </a:r>
          </a:p>
          <a:p>
            <a:pPr algn="l">
              <a:lnSpc>
                <a:spcPct val="110000"/>
              </a:lnSpc>
            </a:pPr>
            <a:r>
              <a:rPr sz="4400" b="0" i="1">
                <a:solidFill>
                  <a:srgbClr val="E8A246"/>
                </a:solidFill>
                <a:latin typeface="Georgia"/>
              </a:rPr>
              <a:t>колледжа.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6766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B8B0A4"/>
                </a:solidFill>
                <a:latin typeface="Georgia"/>
              </a:rPr>
              <a:t>AituDesk объединяет роли пользователя, агента и администратора в едином потоке: заявка создаётся, попадает к нужному агенту по специализации, идёт по SLA-контролю, решается в чате с реал-тайм обновлениями и закрывается с оценкой удовлетворённости.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657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300">
                <a:solidFill>
                  <a:srgbClr val="868078"/>
                </a:solidFill>
                <a:latin typeface="Consolas"/>
              </a:rPr>
              <a:t>ЦИФРЫ ПРОЕКТА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3931920"/>
            <a:ext cx="3840480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0" y="41148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8A246"/>
                </a:solidFill>
                <a:latin typeface="Georg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611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сервисов в 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617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8A246"/>
                </a:solidFill>
                <a:latin typeface="Georgia"/>
              </a:rPr>
              <a:t>80+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7640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автоматических тестов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1206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8A246"/>
                </a:solidFill>
                <a:latin typeface="Georgia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26694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ключевых интерфейсов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6235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8A246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7698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уровня SLA · от 1 ч до 72 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01  ·  О ПРОЕКТЕ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02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03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02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ТЕХНОЛОГИЧЕСКИЙ СТЕК  ·  THE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EE3"/>
                </a:solidFill>
                <a:latin typeface="Georgia"/>
              </a:rPr>
              <a:t>Modern TypeScript end-to-end.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900" b="0" i="1">
                <a:solidFill>
                  <a:srgbClr val="B8B0A4"/>
                </a:solidFill>
                <a:latin typeface="Georgia"/>
              </a:rPr>
              <a:t>Один язык от БД-схемы до UI-компонента.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2697480" cy="260604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3703320"/>
            <a:ext cx="2697480" cy="0"/>
          </a:xfrm>
          <a:prstGeom prst="line">
            <a:avLst/>
          </a:prstGeom>
          <a:ln w="25400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867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E8A246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F4EEE3"/>
                </a:solidFill>
                <a:latin typeface="Georgia"/>
              </a:rPr>
              <a:t>Frontend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4572000"/>
            <a:ext cx="2331720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709160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091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React 18 · 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28616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9286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Vite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48072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148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TailwindCSS 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67528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675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shadcn/ui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86984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58698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Zustand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8064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Recharts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25896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602589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Socket.IO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703320"/>
            <a:ext cx="2697480" cy="260604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383280" y="3703320"/>
            <a:ext cx="2697480" cy="0"/>
          </a:xfrm>
          <a:prstGeom prst="line">
            <a:avLst/>
          </a:prstGeom>
          <a:ln w="254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66160" y="3867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E8A246"/>
                </a:solidFill>
                <a:latin typeface="Consola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1148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F4EEE3"/>
                </a:solidFill>
                <a:latin typeface="Georgia"/>
              </a:rPr>
              <a:t>Backend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66160" y="4572000"/>
            <a:ext cx="2331720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66160" y="4709160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47091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Node 20 · Express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928616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9286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Prisma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148072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5148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Socket.IO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367528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53675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Zod · JWT · bcrypt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586984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558698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Multer · Helmet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806440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58064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Pino logger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703320"/>
            <a:ext cx="2697480" cy="260604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217920" y="3703320"/>
            <a:ext cx="2697480" cy="0"/>
          </a:xfrm>
          <a:prstGeom prst="line">
            <a:avLst/>
          </a:prstGeom>
          <a:ln w="254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0" y="3867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E8A246"/>
                </a:solidFill>
                <a:latin typeface="Consolas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1148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F4EEE3"/>
                </a:solidFill>
                <a:latin typeface="Georgia"/>
              </a:rPr>
              <a:t>Data &amp; Infra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0" y="4572000"/>
            <a:ext cx="2331720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0" y="4709160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47091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PostgreSQL 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928616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49286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Docker Compose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148072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5148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Nginx (SPA + WS)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367528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53675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pgAdmin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3703320"/>
            <a:ext cx="2697480" cy="260604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052560" y="3703320"/>
            <a:ext cx="2697480" cy="0"/>
          </a:xfrm>
          <a:prstGeom prst="line">
            <a:avLst/>
          </a:prstGeom>
          <a:ln w="254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235440" y="3867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E8A246"/>
                </a:solidFill>
                <a:latin typeface="Consolas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41148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F4EEE3"/>
                </a:solidFill>
                <a:latin typeface="Georgia"/>
              </a:rPr>
              <a:t>Observability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235440" y="4572000"/>
            <a:ext cx="2331720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235440" y="4709160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00032" y="47091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Prometheus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4928616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00032" y="49286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Grafana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5148072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00032" y="514807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Vitest + Supertest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0" y="5367528"/>
            <a:ext cx="137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00032" y="53675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EEE3"/>
                </a:solidFill>
                <a:latin typeface="Calibri"/>
              </a:rPr>
              <a:t>PDF reports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02  ·  СТЕК ТЕХНОЛОГИЙ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03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04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03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РОЛИ ·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EE3"/>
                </a:solidFill>
                <a:latin typeface="Georgia"/>
              </a:rPr>
              <a:t>Три роли · одна модель доступа.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3657600" cy="352044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2651760"/>
            <a:ext cx="3657600" cy="0"/>
          </a:xfrm>
          <a:prstGeom prst="line">
            <a:avLst/>
          </a:prstGeom>
          <a:ln w="28575">
            <a:solidFill>
              <a:srgbClr val="9AB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9AB8D8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200">
                <a:solidFill>
                  <a:srgbClr val="F4EEE3"/>
                </a:solidFill>
                <a:latin typeface="Consola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B8B0A4"/>
                </a:solidFill>
                <a:latin typeface="Georgia"/>
              </a:rPr>
              <a:t>Пользователь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206240"/>
            <a:ext cx="3108960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3434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B8D8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Создаёт заявки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360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B8D8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3600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Видит свои тикеты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286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B8D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2861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Чатится с агентом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2122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B8D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2122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Закрывает решённые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1383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AB8D8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1383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Ставит оценку 1–5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2651760"/>
            <a:ext cx="3657600" cy="352044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325112" y="2651760"/>
            <a:ext cx="3657600" cy="0"/>
          </a:xfrm>
          <a:prstGeom prst="line">
            <a:avLst/>
          </a:prstGeom>
          <a:ln w="28575">
            <a:solidFill>
              <a:srgbClr val="8BB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9432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8BB590"/>
                </a:solidFill>
                <a:latin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200">
                <a:solidFill>
                  <a:srgbClr val="F4EEE3"/>
                </a:solidFill>
                <a:latin typeface="Consolas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6576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B8B0A4"/>
                </a:solidFill>
                <a:latin typeface="Georgia"/>
              </a:rPr>
              <a:t>Агент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99432" y="4206240"/>
            <a:ext cx="3108960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99432" y="43434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B590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3434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Видит назначенные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6360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B590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463600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Берёт свободные NEW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49286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B590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492861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Меняет статусы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522122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B590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522122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Публичные + INTERNAL заметки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551383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B590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551383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Учитывает SLA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1584" y="2651760"/>
            <a:ext cx="3657600" cy="352044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101584" y="2651760"/>
            <a:ext cx="3657600" cy="0"/>
          </a:xfrm>
          <a:prstGeom prst="line">
            <a:avLst/>
          </a:prstGeom>
          <a:ln w="285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75904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E8A246"/>
                </a:solidFill>
                <a:latin typeface="Consola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200">
                <a:solidFill>
                  <a:srgbClr val="F4EEE3"/>
                </a:solidFill>
                <a:latin typeface="Consolas"/>
              </a:rPr>
              <a:t>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36576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B8B0A4"/>
                </a:solidFill>
                <a:latin typeface="Georgia"/>
              </a:rPr>
              <a:t>Администратор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75904" y="4206240"/>
            <a:ext cx="3108960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75904" y="43434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246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43434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Всё, что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46360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246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04504" y="463600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Переназначение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4" y="49286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246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4504" y="492861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Управление ролями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5904" y="522122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246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04504" y="522122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Редакция базы знаний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551383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246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04504" y="551383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4EEE3"/>
                </a:solidFill>
                <a:latin typeface="Calibri"/>
              </a:rPr>
              <a:t>Полный дашборд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03  ·  РОЛИ ПОЛЬЗОВАТЕЛЕЙ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04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05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04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ЖИЗНЕННЫЙ ЦИКЛ  ·  TICKET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EE3"/>
                </a:solidFill>
                <a:latin typeface="Georgia"/>
              </a:rPr>
              <a:t>Пять статусов.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B8B0A4"/>
                </a:solidFill>
                <a:latin typeface="Georgia"/>
              </a:rPr>
              <a:t>От «NEW» до «CLOSED» с возможностью REOPENED — каждое состояние понятно агенту и пользователю.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2011680" cy="1280160"/>
          </a:xfrm>
          <a:prstGeom prst="rect">
            <a:avLst/>
          </a:prstGeom>
          <a:solidFill>
            <a:srgbClr val="26252B"/>
          </a:solidFill>
          <a:ln w="15875">
            <a:solidFill>
              <a:srgbClr val="F4E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2011680" cy="6400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611880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20">
                <a:solidFill>
                  <a:srgbClr val="F4EEE3"/>
                </a:solidFill>
                <a:latin typeface="Consolas"/>
              </a:rP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23360"/>
            <a:ext cx="1682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8B0A4"/>
                </a:solidFill>
                <a:latin typeface="Calibri"/>
              </a:rPr>
              <a:t>Создан, ожидает агента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4023360.0"/>
            <a:ext cx="155448" cy="0.0"/>
          </a:xfrm>
          <a:prstGeom prst="line">
            <a:avLst/>
          </a:prstGeom>
          <a:ln w="127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Triangle 12"/>
          <p:cNvSpPr/>
          <p:nvPr/>
        </p:nvSpPr>
        <p:spPr>
          <a:xfrm>
            <a:off x="2706624" y="3977640"/>
            <a:ext cx="91440" cy="91440"/>
          </a:xfrm>
          <a:prstGeom prst="rtTriangle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3383280"/>
            <a:ext cx="2011680" cy="1280160"/>
          </a:xfrm>
          <a:prstGeom prst="rect">
            <a:avLst/>
          </a:prstGeom>
          <a:solidFill>
            <a:srgbClr val="26252B"/>
          </a:solidFill>
          <a:ln w="15875">
            <a:solidFill>
              <a:srgbClr val="9A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3383280"/>
            <a:ext cx="2011680" cy="64008"/>
          </a:xfrm>
          <a:prstGeom prst="rect">
            <a:avLst/>
          </a:prstGeom>
          <a:solidFill>
            <a:srgbClr val="9A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3611880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20">
                <a:solidFill>
                  <a:srgbClr val="9AB8D8"/>
                </a:solidFill>
                <a:latin typeface="Consolas"/>
              </a:rPr>
              <a:t>IN_PROGRESS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023360"/>
            <a:ext cx="1682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8B0A4"/>
                </a:solidFill>
                <a:latin typeface="Calibri"/>
              </a:rPr>
              <a:t>В работе · SLA таймер идёт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4023360.0"/>
            <a:ext cx="155448" cy="0.0"/>
          </a:xfrm>
          <a:prstGeom prst="line">
            <a:avLst/>
          </a:prstGeom>
          <a:ln w="127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/>
          <p:cNvSpPr/>
          <p:nvPr/>
        </p:nvSpPr>
        <p:spPr>
          <a:xfrm>
            <a:off x="4946904" y="3977640"/>
            <a:ext cx="91440" cy="91440"/>
          </a:xfrm>
          <a:prstGeom prst="rtTriangle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3383280"/>
            <a:ext cx="2011680" cy="1280160"/>
          </a:xfrm>
          <a:prstGeom prst="rect">
            <a:avLst/>
          </a:prstGeom>
          <a:solidFill>
            <a:srgbClr val="26252B"/>
          </a:solidFill>
          <a:ln w="15875">
            <a:solidFill>
              <a:srgbClr val="E8C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383280"/>
            <a:ext cx="2011680" cy="64008"/>
          </a:xfrm>
          <a:prstGeom prst="rect">
            <a:avLst/>
          </a:prstGeom>
          <a:solidFill>
            <a:srgbClr val="E8C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3611880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20">
                <a:solidFill>
                  <a:srgbClr val="E8C046"/>
                </a:solidFill>
                <a:latin typeface="Consolas"/>
              </a:rPr>
              <a:t>WAITING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4023360"/>
            <a:ext cx="1682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8B0A4"/>
                </a:solidFill>
                <a:latin typeface="Calibri"/>
              </a:rPr>
              <a:t>Ждём пользователя · SLA пауза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7456" y="4023360.0"/>
            <a:ext cx="155448" cy="0.0"/>
          </a:xfrm>
          <a:prstGeom prst="line">
            <a:avLst/>
          </a:prstGeom>
          <a:ln w="127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ight Triangle 24"/>
          <p:cNvSpPr/>
          <p:nvPr/>
        </p:nvSpPr>
        <p:spPr>
          <a:xfrm>
            <a:off x="7187184" y="3977640"/>
            <a:ext cx="91440" cy="91440"/>
          </a:xfrm>
          <a:prstGeom prst="rtTriangle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3383280"/>
            <a:ext cx="2011680" cy="1280160"/>
          </a:xfrm>
          <a:prstGeom prst="rect">
            <a:avLst/>
          </a:prstGeom>
          <a:solidFill>
            <a:srgbClr val="26252B"/>
          </a:solidFill>
          <a:ln w="15875">
            <a:solidFill>
              <a:srgbClr val="8BB5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3383280"/>
            <a:ext cx="2011680" cy="64008"/>
          </a:xfrm>
          <a:prstGeom prst="rect">
            <a:avLst/>
          </a:prstGeom>
          <a:solidFill>
            <a:srgbClr val="8BB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3611880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20">
                <a:solidFill>
                  <a:srgbClr val="8BB590"/>
                </a:solidFill>
                <a:latin typeface="Consolas"/>
              </a:rPr>
              <a:t>RESOLVED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4023360"/>
            <a:ext cx="1682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8B0A4"/>
                </a:solidFill>
                <a:latin typeface="Calibri"/>
              </a:rPr>
              <a:t>Решён, ждём подтверждения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17736" y="4023360.0"/>
            <a:ext cx="155448" cy="0.0"/>
          </a:xfrm>
          <a:prstGeom prst="line">
            <a:avLst/>
          </a:prstGeom>
          <a:ln w="127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Triangle 30"/>
          <p:cNvSpPr/>
          <p:nvPr/>
        </p:nvSpPr>
        <p:spPr>
          <a:xfrm>
            <a:off x="9427464" y="3977640"/>
            <a:ext cx="91440" cy="91440"/>
          </a:xfrm>
          <a:prstGeom prst="rtTriangle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9760" y="3383280"/>
            <a:ext cx="2011680" cy="1280160"/>
          </a:xfrm>
          <a:prstGeom prst="rect">
            <a:avLst/>
          </a:prstGeom>
          <a:solidFill>
            <a:srgbClr val="26252B"/>
          </a:solidFill>
          <a:ln w="15875">
            <a:solidFill>
              <a:srgbClr val="8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3383280"/>
            <a:ext cx="2011680" cy="64008"/>
          </a:xfrm>
          <a:prstGeom prst="rect">
            <a:avLst/>
          </a:prstGeom>
          <a:solidFill>
            <a:srgbClr val="868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3611880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spc="120">
                <a:solidFill>
                  <a:srgbClr val="868078"/>
                </a:solidFill>
                <a:latin typeface="Consolas"/>
              </a:rPr>
              <a:t>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4023360"/>
            <a:ext cx="1682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8B0A4"/>
                </a:solidFill>
                <a:latin typeface="Calibri"/>
              </a:rPr>
              <a:t>Закрыт · в архив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8A246"/>
                </a:solidFill>
                <a:latin typeface="Calibri"/>
              </a:rPr>
              <a:t>↺  REOPENED — возврат из RESOLVED/CLOSED обратно в IN_PROGRESS, SLA пересчитывается.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B8B0A4"/>
                </a:solidFill>
                <a:latin typeface="Calibri"/>
              </a:rPr>
              <a:t>Фоновый воркер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B8B0A4"/>
                </a:solidFill>
                <a:latin typeface="Calibri"/>
              </a:rPr>
              <a:t>Фоновый воркер  </a:t>
            </a:r>
            <a:r>
              <a:rPr sz="1100" b="1" i="0">
                <a:solidFill>
                  <a:srgbClr val="F4EEE3"/>
                </a:solidFill>
                <a:latin typeface="Consolas"/>
              </a:rPr>
              <a:t>checkSlaBreaches()</a:t>
            </a:r>
            <a:r>
              <a:rPr sz="1150" b="0" i="0">
                <a:solidFill>
                  <a:srgbClr val="B8B0A4"/>
                </a:solidFill>
                <a:latin typeface="Calibri"/>
              </a:rPr>
              <a:t>  раз в минуту проставляет  </a:t>
            </a:r>
            <a:r>
              <a:rPr sz="1100" b="1" i="0">
                <a:solidFill>
                  <a:srgbClr val="E8A246"/>
                </a:solidFill>
                <a:latin typeface="Consolas"/>
              </a:rPr>
              <a:t>slaBreached=true</a:t>
            </a:r>
            <a:r>
              <a:rPr sz="1150" b="0" i="0">
                <a:solidFill>
                  <a:srgbClr val="B8B0A4"/>
                </a:solidFill>
                <a:latin typeface="Calibri"/>
              </a:rPr>
              <a:t>  просроченным тикетам.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04  ·  ЖИЗНЕННЫЙ ЦИКЛ ТИКЕТА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05 / 20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06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05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SLA  ·  SERVICE LEVEL AGREEMENTS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EE3"/>
                </a:solidFill>
                <a:latin typeface="Georgia"/>
              </a:rPr>
              <a:t>От 30 минут до 3 суток.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00" b="0" i="1">
                <a:solidFill>
                  <a:srgbClr val="B8B0A4"/>
                </a:solidFill>
                <a:latin typeface="Georgia"/>
              </a:rPr>
              <a:t>Время реакции и решения зависят от приоритета.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ПРИОРИТЕТ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РЕАКЦИЯ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310896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ОПИСАНИЕ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01568"/>
            <a:ext cx="11064240" cy="0"/>
          </a:xfrm>
          <a:prstGeom prst="line">
            <a:avLst/>
          </a:prstGeom>
          <a:ln w="127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3657600"/>
            <a:ext cx="146304" cy="365760"/>
          </a:xfrm>
          <a:prstGeom prst="rect">
            <a:avLst/>
          </a:prstGeom>
          <a:solidFill>
            <a:srgbClr val="E8A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9417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20">
                <a:solidFill>
                  <a:srgbClr val="F4EEE3"/>
                </a:solidFill>
                <a:latin typeface="Consolas"/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694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E8A246"/>
                </a:solidFill>
                <a:latin typeface="Georgia"/>
              </a:rPr>
              <a:t>30 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69417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F4EEE3"/>
                </a:solidFill>
                <a:latin typeface="Georgia"/>
              </a:rPr>
              <a:t>1 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739896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B8B0A4"/>
                </a:solidFill>
                <a:latin typeface="Calibri"/>
              </a:rPr>
              <a:t>Преподаватель не может вести занятие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206240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85800" y="4370832"/>
            <a:ext cx="146304" cy="365760"/>
          </a:xfrm>
          <a:prstGeom prst="rect">
            <a:avLst/>
          </a:prstGeom>
          <a:solidFill>
            <a:srgbClr val="E8C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074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20">
                <a:solidFill>
                  <a:srgbClr val="F4EEE3"/>
                </a:solidFill>
                <a:latin typeface="Consola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4074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E8C046"/>
                </a:solidFill>
                <a:latin typeface="Georgia"/>
              </a:rPr>
              <a:t>1 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4074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F4EEE3"/>
                </a:solidFill>
                <a:latin typeface="Georgia"/>
              </a:rPr>
              <a:t>4 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5312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B8B0A4"/>
                </a:solidFill>
                <a:latin typeface="Calibri"/>
              </a:rPr>
              <a:t>Не работает важная служба, есть workaround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919472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85800" y="5084064"/>
            <a:ext cx="146304" cy="365760"/>
          </a:xfrm>
          <a:prstGeom prst="rect">
            <a:avLst/>
          </a:prstGeom>
          <a:solidFill>
            <a:srgbClr val="9A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20">
                <a:solidFill>
                  <a:srgbClr val="F4EEE3"/>
                </a:solidFill>
                <a:latin typeface="Consolas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120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9AB8D8"/>
                </a:solidFill>
                <a:latin typeface="Georgia"/>
              </a:rPr>
              <a:t>4 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5120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F4EEE3"/>
                </a:solidFill>
                <a:latin typeface="Georgia"/>
              </a:rPr>
              <a:t>24 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16636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B8B0A4"/>
                </a:solidFill>
                <a:latin typeface="Calibri"/>
              </a:rPr>
              <a:t>Стандартные запросы пользователей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632704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5800" y="5797296"/>
            <a:ext cx="146304" cy="365760"/>
          </a:xfrm>
          <a:prstGeom prst="rect">
            <a:avLst/>
          </a:prstGeom>
          <a:solidFill>
            <a:srgbClr val="8BB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3387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120">
                <a:solidFill>
                  <a:srgbClr val="F4EEE3"/>
                </a:solidFill>
                <a:latin typeface="Consolas"/>
              </a:rP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8338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8BB590"/>
                </a:solidFill>
                <a:latin typeface="Georgia"/>
              </a:rPr>
              <a:t>24 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58338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F4EEE3"/>
                </a:solidFill>
                <a:latin typeface="Georgia"/>
              </a:rPr>
              <a:t>72 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587959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B8B0A4"/>
                </a:solidFill>
                <a:latin typeface="Calibri"/>
              </a:rPr>
              <a:t>Косметические или плановые задачи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345936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05  ·  SLA ПО ПРИОРИТЕТАМ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06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07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06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АУТЕНТИФИКАЦИЯ  · 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Тихий вход в систему.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Editorial-форма с тонкой типографикой, JWT в куки, refresh-flow прозрачно для пользователя.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Email + пароль · валидация Zod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Access (15 мин) + Refresh (7 дн)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Запоминание сессии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Линк на регистрацию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-logi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06  ·  АУТЕНТИФИКАЦИЯ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07 / 20</a:t>
            </a:r>
          </a:p>
        </p:txBody>
      </p:sp>
    </p:spTree>
  </p:cSld>
  <p:clrMapOvr>
    <a:masterClrMapping/>
  </p:clrMapOvr>
  <p:transition spd="med">
    <p:extLst>
      <p:ext uri="{C5C82F0A-F2E2-4B22-840E-3DA68DC0D49E}">
        <p159:morph xmlns:p159="http://schemas.microsoft.com/office/powerpoint/2015/main" option="byObject"/>
      </p:ext>
    </p:extLst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08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07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РЕГИСТРАЦИЯ  ·  SIGN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Минимум полей,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максимум скорости. Bcrypt-хэш паролей, проверка уникальности email на стороне БД.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Имя, email, пароль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Принудительная сложность пароля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По умолчанию роль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Сразу автологин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2-registe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07  ·  РЕГИСТРАЦИЯ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08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09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08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ДАШБОРД  ·  OPERATIONAL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4 KPI · 2 графика · лента.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Editorial-вёрстка с § нумерацией секций. Спарклайны, donut-chart по категориям, лента свежих заявок и топ агентов — всё на одном экране.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KPI: всего, открытые, решено,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Линейный график за 14 дней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Donut: распределение по категориям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Топ агентов по решённым тикетам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710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971032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Сводка SLA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-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08  ·  ДАШБОРД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09 / 20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10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09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ЛЕНТА ТИКЕТОВ  ·  TICKETS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Статус-табы, фильтры, поиск.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Серверный поиск с дебаунсом, фильтрация по приоритету и категории, бейджи статуса и SLA.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Табы NEW · IN_PROGRESS · WAITING ·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Фильтры по приоритету и категории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Серверный поиск (debounce)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SLA-индикатор у каждой строки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-ticket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09  ·  ЛЕНТА ТИКЕТОВ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10 / 20</a:t>
            </a:r>
          </a:p>
        </p:txBody>
      </p:sp>
    </p:spTree>
  </p:cSld>
  <p:clrMapOvr>
    <a:masterClrMapping/>
  </p:clrMapOvr>
  <p:transition spd="med">
    <p:extLst>
      <p:ext uri="{C5C82F0A-F2E2-4B22-840E-3DA68DC0D49E}">
        <p159:morph xmlns:p159="http://schemas.microsoft.com/office/powerpoint/2015/main" option="byObject"/>
      </p:ext>
    </p:extLst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11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10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ДЕТАЛЬ ТИКЕТА  ·  DETAIL + LIVE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Двухколоночный editorial-лейаут.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Слева — детали и описание. Справа — sticky-чат: публичные сообщения и INTERNAL заметки агентов, реал-тайм через Socket.IO с typing-индикатором.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Sticky-чат с typing «…»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INTERNAL заметки только агентам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Быстрые действия по роли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Модуль оценки 1–5 после CLOSED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710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971032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Загрузка вложений до 5 файлов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1-ticket-detail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10  ·  ДЕТАЛЬ ТИКЕТА + ЧАТ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11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12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11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СОЗДАНИЕ ТИКЕТА  ·  NEW 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Форма с подсказками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из базы знаний. Дебаунс-поиск по описанию проблемы — пользователь часто решает вопрос ещё до отправки.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Категория + приоритет (плитки)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Описание + вложения до 5 файлов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Подсказки KB по введённому тексту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Авто-назначение по специализации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5-tickets-creat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11  ·  СОЗДАНИЕ ТИКЕТА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12 / 20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13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12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БАЗА ЗНАНИЙ  ·  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Hero-поиск, плитки, статьи.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Editorial-вёрстка статей с Markdown, viewCount автоматически инкрементируется, поиск по заголовку и контенту.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Hero-поиск с горячими запросами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Плитки разделов · 4 категории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Список статей с превью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Markdown-редактор для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-kb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12  ·  БАЗА ЗНАНИЙ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13 / 20</a:t>
            </a:r>
          </a:p>
        </p:txBody>
      </p:sp>
    </p:spTree>
  </p:cSld>
  <p:clrMapOvr>
    <a:masterClrMapping/>
  </p:clrMapOvr>
  <p:transition spd="med">
    <p:extLst>
      <p:ext uri="{C5C82F0A-F2E2-4B22-840E-3DA68DC0D49E}">
        <p159:morph xmlns:p159="http://schemas.microsoft.com/office/powerpoint/2015/main" option="byObject"/>
      </p:ext>
    </p:extLst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14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13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УВЕДОМЛЕНИЯ  · 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Лента с иконкой по типу.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NEW_MESSAGE, TICKET_ASSIGNED, STATUS_CHANGED, TICKET_RATED — четыре типа, прямая ссылка на источник.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Realtime через Socket.IO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«Прочитать всё» одной кнопкой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Бейдж непрочитанных в шапке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Глубокая ссылка на тикет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9-notification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13  ·  УВЕДОМЛЕНИЯ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14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15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14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АДМИН-ПАНЕЛЬ  ·  USERS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Управление ролями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и специализациями агентов. Назначение специализаций определяет авто-распределение новых тикетов.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Список всех пользователей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Смена роли USER ↔ AGENT ↔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Назначение специализаций агенту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Активация / деактивация аккаунта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0-user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14  ·  АДМИН · ПОЛЬЗОВАТЕЛИ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15 / 20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16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15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ПРОФИЛЬ  · 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4EEE3"/>
                </a:solidFill>
                <a:latin typeface="Georgia"/>
              </a:rPr>
              <a:t>Личные данные и аватар.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1">
                <a:solidFill>
                  <a:srgbClr val="B8B0A4"/>
                </a:solidFill>
                <a:latin typeface="Georgia"/>
              </a:rPr>
              <a:t>Multipart-загрузка изображений через Multer, обновление в реальном времени, сохранение при смене темы.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617720"/>
            <a:ext cx="228600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8006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0060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Имя, email, аватар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9320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93208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Загрузка PNG / JPEG до 5 МБ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85816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85816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Светлая / тёмная 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78424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A246"/>
                </a:solidFill>
                <a:latin typeface="Consolas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78424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EE3"/>
                </a:solidFill>
                <a:latin typeface="Calibri"/>
              </a:rPr>
              <a:t>История последних действий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5584" y="1380744"/>
            <a:ext cx="5943600" cy="4983480"/>
          </a:xfrm>
          <a:prstGeom prst="rect">
            <a:avLst/>
          </a:prstGeom>
          <a:solidFill>
            <a:srgbClr val="10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25880"/>
            <a:ext cx="5943600" cy="4983480"/>
          </a:xfrm>
          <a:prstGeom prst="rect">
            <a:avLst/>
          </a:prstGeom>
          <a:solidFill>
            <a:srgbClr val="26252B"/>
          </a:solidFill>
          <a:ln w="9525">
            <a:solidFill>
              <a:srgbClr val="3A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8-profil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380744"/>
            <a:ext cx="5833872" cy="487375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15  ·  ПРОФИЛЬ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16 / 20</a:t>
            </a:r>
          </a:p>
        </p:txBody>
      </p:sp>
    </p:spTree>
  </p:cSld>
  <p:clrMapOvr>
    <a:masterClrMapping/>
  </p:clrMapOvr>
  <p:transition spd="med">
    <p:extLst>
      <p:ext uri="{C5C82F0A-F2E2-4B22-840E-3DA68DC0D49E}">
        <p159:morph xmlns:p159="http://schemas.microsoft.com/office/powerpoint/2015/main" option="byObject"/>
      </p:ext>
    </p:extLst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17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16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REALTIME  ·  SOCKET.IO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4EEE3"/>
                </a:solidFill>
                <a:latin typeface="Georgia"/>
              </a:rPr>
              <a:t>Сообщения · статусы · уведомления —</a:t>
            </a:r>
          </a:p>
          <a:p>
            <a:pPr algn="l">
              <a:lnSpc>
                <a:spcPct val="110000"/>
              </a:lnSpc>
            </a:pPr>
            <a:r>
              <a:rPr sz="3400" b="0" i="1">
                <a:solidFill>
                  <a:srgbClr val="E8A246"/>
                </a:solidFill>
                <a:latin typeface="Georgia"/>
              </a:rPr>
              <a:t>без перезагрузки страницы.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СОБЫТИЕ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520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НАПРАВЛЕНИЕ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5204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ОПИСАНИЕ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813048"/>
            <a:ext cx="11064240" cy="0"/>
          </a:xfrm>
          <a:prstGeom prst="line">
            <a:avLst/>
          </a:prstGeom>
          <a:ln w="127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9959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EE3"/>
                </a:solidFill>
                <a:latin typeface="Consolas"/>
              </a:rPr>
              <a:t>ticket:join / ticket:leave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0142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9DC4"/>
                </a:solidFill>
                <a:latin typeface="Consolas"/>
              </a:rPr>
              <a:t>client →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0233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подписка на комнату тикета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343400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4348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EE3"/>
                </a:solidFill>
                <a:latin typeface="Consolas"/>
              </a:rPr>
              <a:t>typing:start / typing:stop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9DC4"/>
                </a:solidFill>
                <a:latin typeface="Consolas"/>
              </a:rPr>
              <a:t>client ↔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4622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индикатор «печатает…»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782312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8737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EE3"/>
                </a:solidFill>
                <a:latin typeface="Consolas"/>
              </a:rPr>
              <a:t>message:new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892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9DC4"/>
                </a:solidFill>
                <a:latin typeface="Consolas"/>
              </a:rPr>
              <a:t>server →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9011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новое сообщение в тикете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221224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3126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EE3"/>
                </a:solidFill>
                <a:latin typeface="Consolas"/>
              </a:rPr>
              <a:t>ticket:status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330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9DC4"/>
                </a:solidFill>
                <a:latin typeface="Consolas"/>
              </a:rPr>
              <a:t>server →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34009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смена статуса тикета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660136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575157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EE3"/>
                </a:solidFill>
                <a:latin typeface="Consolas"/>
              </a:rPr>
              <a:t>notification:new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769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120">
                <a:solidFill>
                  <a:srgbClr val="7A9DC4"/>
                </a:solidFill>
                <a:latin typeface="Consolas"/>
              </a:rPr>
              <a:t>server → 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779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персональное уведомление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099048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Авторизация — </a:t>
            </a:r>
            <a:r>
              <a:rPr sz="1100" b="1" i="0">
                <a:solidFill>
                  <a:srgbClr val="F4EEE3"/>
                </a:solidFill>
                <a:latin typeface="Consolas"/>
              </a:rPr>
              <a:t>JWT в auth.token при io()</a:t>
            </a:r>
            <a:r>
              <a:rPr sz="1100" b="0" i="0">
                <a:solidFill>
                  <a:srgbClr val="B8B0A4"/>
                </a:solidFill>
                <a:latin typeface="Calibri"/>
              </a:rPr>
              <a:t> · Nginx прокси с Upgrade: websocket.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16  ·  REALTIME ЧЕРЕЗ SOCKET.IO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17 / 20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18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17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МОНИТОРИНГ  · 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4EEE3"/>
                </a:solidFill>
                <a:latin typeface="Georgia"/>
              </a:rPr>
              <a:t>Prometheus + Grafana,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900" b="0" i="1">
                <a:solidFill>
                  <a:srgbClr val="B8B0A4"/>
                </a:solidFill>
                <a:latin typeface="Georgia"/>
              </a:rPr>
              <a:t>прямо в Docker Compose.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МЕТРИКА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383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ТИП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3832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300">
                <a:solidFill>
                  <a:srgbClr val="868078"/>
                </a:solidFill>
                <a:latin typeface="Consolas"/>
              </a:rPr>
              <a:t>ОПИСАНИЕ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675888"/>
            <a:ext cx="11064240" cy="0"/>
          </a:xfrm>
          <a:prstGeom prst="line">
            <a:avLst/>
          </a:prstGeom>
          <a:ln w="1270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8404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tickets_total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8587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A246"/>
                </a:solidFill>
                <a:latin typeface="Calibri"/>
              </a:rPr>
              <a:t>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5876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Всего создано тикетов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151376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224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tickets_resolved_total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428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A246"/>
                </a:solidFill>
                <a:latin typeface="Calibri"/>
              </a:rPr>
              <a:t>Counter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24281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Всего закрыто тикетов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535424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6085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ticket_resolution_duration_seconds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6268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A246"/>
                </a:solidFill>
                <a:latin typeface="Calibri"/>
              </a:rPr>
              <a:t>Histogram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6268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Время решения тикета (сек)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919472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9926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http_requests_total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0109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A246"/>
                </a:solidFill>
                <a:latin typeface="Calibri"/>
              </a:rPr>
              <a:t>Counter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109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HTTP-запросы (method, route, status)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303520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5376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http_request_duration_seconds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394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A246"/>
                </a:solidFill>
                <a:latin typeface="Calibri"/>
              </a:rPr>
              <a:t>Histogram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394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Длительность HTTP-запросов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687568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5760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aitudesk_*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779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E8A246"/>
                </a:solidFill>
                <a:latin typeface="Calibri"/>
              </a:rPr>
              <a:t>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77900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Node.js metrics: CPU, memory, event loop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071616"/>
            <a:ext cx="11064240" cy="0"/>
          </a:xfrm>
          <a:prstGeom prst="line">
            <a:avLst/>
          </a:prstGeom>
          <a:ln w="508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B0A4"/>
                </a:solidFill>
                <a:latin typeface="Calibri"/>
              </a:rPr>
              <a:t>Эндпоинт </a:t>
            </a:r>
            <a:r>
              <a:rPr sz="1100" b="1" i="0">
                <a:solidFill>
                  <a:srgbClr val="F4EEE3"/>
                </a:solidFill>
                <a:latin typeface="Consolas"/>
              </a:rPr>
              <a:t>GET /metrics</a:t>
            </a:r>
            <a:r>
              <a:rPr sz="1100" b="0" i="0">
                <a:solidFill>
                  <a:srgbClr val="B8B0A4"/>
                </a:solidFill>
                <a:latin typeface="Calibri"/>
              </a:rPr>
              <a:t> · скрейп Prometheus каждые 15 секунд · Grafana dashboard ID 11159 для Node.js.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17  ·  МОНИТОРИНГ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18 / 20</a:t>
            </a:r>
          </a:p>
        </p:txBody>
      </p:sp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 </a:t>
            </a:r>
            <a:r>
              <a:rPr sz="1100" b="0" i="0">
                <a:solidFill>
                  <a:srgbClr val="868078"/>
                </a:solidFill>
                <a:latin typeface="Calibri"/>
              </a:rPr>
              <a:t>  ·  </a:t>
            </a:r>
            <a:r>
              <a:rPr sz="900" b="0" i="0" spc="200">
                <a:solidFill>
                  <a:srgbClr val="868078"/>
                </a:solidFill>
                <a:latin typeface="Consolas"/>
              </a:rPr>
              <a:t>SERVICE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200">
                <a:solidFill>
                  <a:srgbClr val="868078"/>
                </a:solidFill>
                <a:latin typeface="Consolas"/>
              </a:rPr>
              <a:t>ВЫПУСК ·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27 АПРЕЛЯ 2026 Г.</a:t>
            </a:r>
            <a:r>
              <a:rPr sz="900" b="0" i="0">
                <a:solidFill>
                  <a:srgbClr val="868078"/>
                </a:solidFill>
                <a:latin typeface="Consolas"/>
              </a:rPr>
              <a:t>   ·   </a:t>
            </a:r>
            <a:r>
              <a:rPr sz="900" b="1" i="0" spc="200">
                <a:solidFill>
                  <a:srgbClr val="F4EEE3"/>
                </a:solidFill>
                <a:latin typeface="Consolas"/>
              </a:rPr>
              <a:t>P. 19 / 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9525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E8A246"/>
                </a:solidFill>
                <a:latin typeface="Georgia"/>
              </a:rPr>
              <a:t>§ </a:t>
            </a:r>
            <a:r>
              <a:rPr sz="1100" b="1" i="0" spc="250">
                <a:solidFill>
                  <a:srgbClr val="E8A246"/>
                </a:solidFill>
                <a:latin typeface="Consolas"/>
              </a:rPr>
              <a:t>18  </a:t>
            </a:r>
            <a:r>
              <a:rPr sz="1000" b="0" i="0" spc="350">
                <a:solidFill>
                  <a:srgbClr val="B8B0A4"/>
                </a:solidFill>
                <a:latin typeface="Consolas"/>
              </a:rPr>
              <a:t>ТЕСТИРОВАНИЕ  ·  VITEST + SUPERTEST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EEE3"/>
                </a:solidFill>
                <a:latin typeface="Georgia"/>
              </a:rPr>
              <a:t>80+ тестов  ·  ~5 секунд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500" b="0" i="1">
                <a:solidFill>
                  <a:srgbClr val="B8B0A4"/>
                </a:solidFill>
                <a:latin typeface="Georgia"/>
              </a:rPr>
              <a:t>Без реальной БД — Prisma полностью замокана. Изоляция и повторяемость на любой машине.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050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0233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register, login, refresh, logout,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708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3891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Создание, фильтры, статусы, рейтинг, доступ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3659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75488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Профиль, роли (ADMIN), агенты,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023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1206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Получение, INTERNAL запрет для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681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4864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Stats по роли, by-day, by-category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338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8521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Поиск, viewCount++, CRUD (ADMIN)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3192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050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0233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Список, read-all, read by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9768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3708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3891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PDF magic bytes, content-type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6344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3659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75488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Инкремент счётчиков, observe гистограмм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02920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1023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sla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1206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calculateSlaDeadlines для всех приоритетов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39496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1">
                <a:solidFill>
                  <a:srgbClr val="E8A246"/>
                </a:solidFill>
                <a:latin typeface="Georg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4681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EE3"/>
                </a:solidFill>
                <a:latin typeface="Consolas"/>
              </a:rPr>
              <a:t>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4864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0A4"/>
                </a:solidFill>
                <a:latin typeface="Calibri"/>
              </a:rPr>
              <a:t>/api/health, /metrics endpoint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6350">
            <a:solidFill>
              <a:srgbClr val="3A36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868078"/>
                </a:solidFill>
                <a:latin typeface="Consolas"/>
              </a:rPr>
              <a:t>§ 18  ·  ТЕСТИРОВАНИЕ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200">
                <a:solidFill>
                  <a:srgbClr val="F4EEE3"/>
                </a:solidFill>
                <a:latin typeface="Consolas"/>
              </a:rPr>
              <a:t>19 / 20</a:t>
            </a:r>
          </a:p>
        </p:txBody>
      </p:sp>
    </p:spTree>
  </p:cSld>
  <p:clrMapOvr>
    <a:masterClrMapping/>
  </p:clrMapOvr>
  <p:transition spd="med">
    <p:wipe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EEE3"/>
                </a:solidFill>
                <a:latin typeface="Georgia"/>
              </a:rPr>
              <a:t>Aitu</a:t>
            </a:r>
            <a:r>
              <a:rPr sz="1400" b="0" i="1">
                <a:solidFill>
                  <a:srgbClr val="F4EEE3"/>
                </a:solidFill>
                <a:latin typeface="Georgia"/>
              </a:rPr>
              <a:t>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84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 spc="300">
                <a:solidFill>
                  <a:srgbClr val="868078"/>
                </a:solidFill>
                <a:latin typeface="Consolas"/>
              </a:rPr>
              <a:t>КОНЕЦ ВЫПУСКА  ·  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841248"/>
            <a:ext cx="10911535" cy="0"/>
          </a:xfrm>
          <a:prstGeom prst="line">
            <a:avLst/>
          </a:prstGeom>
          <a:ln w="1905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905256"/>
            <a:ext cx="10911535" cy="0"/>
          </a:xfrm>
          <a:prstGeom prst="line">
            <a:avLst/>
          </a:prstGeom>
          <a:ln w="635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4173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0" b="1" i="0">
                <a:solidFill>
                  <a:srgbClr val="F4EEE3"/>
                </a:solidFill>
                <a:latin typeface="Georgia"/>
              </a:rPr>
              <a:t>Спасибо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0" i="1">
                <a:solidFill>
                  <a:srgbClr val="E8A246"/>
                </a:solidFill>
                <a:latin typeface="Georgia"/>
              </a:rPr>
              <a:t>за внимание.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5669280"/>
            <a:ext cx="3474720" cy="0"/>
          </a:xfrm>
          <a:prstGeom prst="line">
            <a:avLst/>
          </a:prstGeom>
          <a:ln w="15875">
            <a:solidFill>
              <a:srgbClr val="E8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57790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50">
                <a:solidFill>
                  <a:srgbClr val="F4EEE3"/>
                </a:solidFill>
                <a:latin typeface="Consolas"/>
              </a:rPr>
              <a:t>ВОПРОСЫ?  ·  AITUDESK ·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46520"/>
            <a:ext cx="10911535" cy="0"/>
          </a:xfrm>
          <a:prstGeom prst="line">
            <a:avLst/>
          </a:prstGeom>
          <a:ln w="6350">
            <a:solidFill>
              <a:srgbClr val="F4E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300">
                <a:solidFill>
                  <a:srgbClr val="868078"/>
                </a:solidFill>
                <a:latin typeface="Consolas"/>
              </a:rPr>
              <a:t>AITUDESK  ·  СЛУЖБА ПОДДЕРЖКИ КОЛЛЕДЖА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 spc="300">
                <a:solidFill>
                  <a:srgbClr val="F4EEE3"/>
                </a:solidFill>
                <a:latin typeface="Consolas"/>
              </a:rPr>
              <a:t>P. 20 / 20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